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Lift During (%)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D2D2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Special Event</c:v>
                </c:pt>
                <c:pt idx="1">
                  <c:v>Discount</c:v>
                </c:pt>
                <c:pt idx="2">
                  <c:v>Buy-One-Get-One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</c:v>
                </c:pt>
                <c:pt idx="1">
                  <c:v>36.8</c:v>
                </c:pt>
                <c:pt idx="2">
                  <c:v>30.4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Post-Promo Retention (%)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D2D2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Special Event</c:v>
                </c:pt>
                <c:pt idx="1">
                  <c:v>Discount</c:v>
                </c:pt>
                <c:pt idx="2">
                  <c:v>Buy-One-Get-One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24.5</c:v>
                </c:pt>
                <c:pt idx="1">
                  <c:v>9.4</c:v>
                </c:pt>
                <c:pt idx="2">
                  <c:v>-17.6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D2D2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-20"/>
        </c:scaling>
        <c:delete val="0"/>
        <c:axPos val="l"/>
        <c:majorGridlines>
          <c:spPr>
            <a:ln w="635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6666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6470c73-86af-4bb3-8d0b-2b5bffaa75c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GreenTrail Outdoors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7BC6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Promotional Strategy Analysis &amp;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for: 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Emily Chen, Marketing Director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February 9, 2026 | Mastercard Data &amp; 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35.2%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Sales Lift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Promotions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Post-Promo Retention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Sustainability Challenge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2801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Analyzed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Major Markets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Critical Insights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 stores outperform suburban by 48% 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(41.8% vs 28.2% sales lift)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Events show strongest retention 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(24.5% vs 9.4% for Discounts, -17.6% for BOGO)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correlation between store size and performance 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 = 0.62 with sales lift)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Promotion Performance by Type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lift and retention comparison across three promotion strategies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Recommendation: Prioritize Special Events for sustainable customer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Urban vs Suburban Store Performance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URBAN STORES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41.8%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Sales Lift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stores analyzed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customer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event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product focus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1" name="Text 9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SUBURBAN STORES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7BC6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28.2%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Sales Lift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3291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stores analyzed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Family-oriented market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Value-focused customers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engagement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48% performance gap requires differentiated promotional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Retention Challenge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Post-promotion performance reveals limited long-term behavioral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32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return to near-baseline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weeks of promotion 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This Means: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8404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stockpiling, not changing habits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BOGO shows negative retention (-17.6%)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discounts create price dependency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brand loyalty development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12" name="Text 10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Path Forward: Shift from transactional discounts to experiential engagement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Performance Extremes: Learning Opportunities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Top Performers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457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5" name="Text 3"/>
          <p:cNvSpPr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York (Urban)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73736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66.7%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73736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Philadelphia (Urban)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58.1%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37744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Event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 Jose (Urban)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0175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57.6%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factors: Urban location, larger store size, high customer traffic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2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Underperformers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3657600" cy="45720"/>
          </a:xfrm>
          <a:prstGeom prst="rect">
            <a:avLst/>
          </a:prstGeom>
          <a:solidFill>
            <a:srgbClr val="D32F2F"/>
          </a:solidFill>
        </p:spPr>
      </p:sp>
      <p:sp>
        <p:nvSpPr>
          <p:cNvPr id="17" name="Text 15"/>
          <p:cNvSpPr/>
          <p:nvPr/>
        </p:nvSpPr>
        <p:spPr>
          <a:xfrm>
            <a:off x="5212080" y="1737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Paso (Suburban)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17373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2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4.8%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17373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 Antonio (Suburban)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23774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2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7.7%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23774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0175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Austin (Suburban)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3017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2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21.6%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0" y="3017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BOGO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needed: Market-specific audits to identify root causes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97BC62">
              <a:alpha val="8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All top performers are urban stores; all bottom performers are suburban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Recommended Control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Matched-Pair Design for Rigorous Testing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each test store, match a control store based 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Type (urban/suburban)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- 48%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Size (±200 sq ft)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0.62 correlation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Sales (±15%)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Comparable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Region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Weather, culture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Measurement Framework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 Category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to Measure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Measurement Period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Short-term Sales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Weekly sales lift, transaction 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During promo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Long-term Impact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Retention, repeat purchase rate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4-8 weeks post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Behavior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New customer %, basket composition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Throughout + 4 weeks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Sustainability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Eco-product %, waste, returns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Throughout + 2 weeks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Optimal Test Duration: 10-12 Weeks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timeline to measure true behavioral change, not just sales spikes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5" name="Text 3"/>
          <p:cNvSpPr/>
          <p:nvPr/>
        </p:nvSpPr>
        <p:spPr>
          <a:xfrm>
            <a:off x="457200" y="15087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Baseline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weeks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20574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8" name="Text 6"/>
          <p:cNvSpPr/>
          <p:nvPr/>
        </p:nvSpPr>
        <p:spPr>
          <a:xfrm>
            <a:off x="1828800" y="1508760"/>
            <a:ext cx="2057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Promotion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2057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weeks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371600"/>
            <a:ext cx="4114800" cy="7315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1" name="Text 9"/>
          <p:cNvSpPr/>
          <p:nvPr/>
        </p:nvSpPr>
        <p:spPr>
          <a:xfrm>
            <a:off x="3886200" y="150876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Post-Promotion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783080"/>
            <a:ext cx="4114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weeks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371600"/>
            <a:ext cx="685800" cy="73152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14" name="Text 12"/>
          <p:cNvSpPr/>
          <p:nvPr/>
        </p:nvSpPr>
        <p:spPr>
          <a:xfrm>
            <a:off x="8001000" y="150876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1783080"/>
            <a:ext cx="685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week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This Timeline?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73152" cy="16459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19" name="Text 17"/>
          <p:cNvSpPr/>
          <p:nvPr/>
        </p:nvSpPr>
        <p:spPr>
          <a:xfrm>
            <a:off x="731520" y="301752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Extended Promotion (3 weeks)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3832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purchase cycles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habit 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data collection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834640"/>
            <a:ext cx="73152" cy="16459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23" name="Text 21"/>
          <p:cNvSpPr/>
          <p:nvPr/>
        </p:nvSpPr>
        <p:spPr>
          <a:xfrm>
            <a:off x="5120640" y="301752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Extended Measurement (6 weeks)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3832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real behavior 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repeat purchases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lifetime value impact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2C5F2D">
              <a:alpha val="9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31520" y="4709160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2-week tests miss long-term impact — only 3.3% retention captured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promotions with GreenTrail's sustainability 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C5F2D"/>
          </a:solidFill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Prioritize Experiential Events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from price discounts to sustainability workshops, gear repair clinics, and outdoor skills training. Best retention (24.5%) and brand alignment.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2C5F2D"/>
          </a:solidFill>
        </p:spPr>
      </p:sp>
      <p:sp>
        <p:nvSpPr>
          <p:cNvPr id="11" name="Text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Sustainability Rewards Program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transactional BOGO offers with points for eco-behaviors: product recycling, reusable bags, event attendance. Builds long-term engagement.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2C5F2D"/>
          </a:solidFill>
        </p:spPr>
      </p:sp>
      <p:sp>
        <p:nvSpPr>
          <p:cNvPr id="16" name="Text 14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Trade-In &amp; Upcycle Initiatives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 enhanced value for gear trade-ins, refurbish and resell. Reduces waste, attracts conscious consumers, creates unique differentiation.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strategies drive long-term customer relationships while reinforcing environmental values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Additional Data Requirements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information to enhance analysis and targeting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97BC62">
              <a:alpha val="7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40080" y="144475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Customer Demographics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&amp; income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composition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Acquisition cost per channel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3931920" cy="411480"/>
          </a:xfrm>
          <a:prstGeom prst="rect">
            <a:avLst/>
          </a:prstGeom>
          <a:solidFill>
            <a:srgbClr val="97BC62">
              <a:alpha val="7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5029200" y="144475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Market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economic indicators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Outdoor seasonality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share by 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solidFill>
            <a:srgbClr val="97BC62">
              <a:alpha val="7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40080" y="29992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Environmental Factors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events (races, festivals)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staffing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Inventory availability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26080"/>
            <a:ext cx="3931920" cy="411480"/>
          </a:xfrm>
          <a:prstGeom prst="rect">
            <a:avLst/>
          </a:prstGeom>
          <a:solidFill>
            <a:srgbClr val="97BC62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029200" y="29992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Sustainability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returns &amp; waste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Eco-product mix 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sustainability awareness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Carbon footprint of promos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Emily to coordinate data access from internal teams and external sources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Success Metrics &amp; Targets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benchmarks to evaluate new promotional strategies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Baseline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Importance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Lift During Promo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35.2%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≥40%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Post-Promo Retention (6 weeks)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≥20%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New Customer Acquisition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≥15%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Sustainable Product Mix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+10pp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Engagement Score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≥25% lift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97BC62">
              <a:alpha val="80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CRITICAL SUCCESS FACTOR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20% post-promotion retention target is paramount. Current strategies drive transactions, not transformation. Success means customers continue sustainable behaviors long after promotions end.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 &amp;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 plan to launch optimized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Immediate (2 weeks)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Review and approve control methodology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Identify matched-pair store locations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Prioritize data collection needs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0" name="Text 8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Short-term (2-4 weeks)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Design sustainability-focused test promotions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Establish measurement protocols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Conduct underperformer market audits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D4A574"/>
          </a:solidFill>
        </p:spPr>
      </p:sp>
      <p:sp>
        <p:nvSpPr>
          <p:cNvPr id="14" name="Text 12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Launch Prep (4-6 weeks)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Finalize test protocols &amp; success metrics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Train store teams on new approaches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Begin 2-week baseline measurement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C5F2D">
              <a:alpha val="9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 Contact Jordan Lee, Managing Consultant | jordan.lee@mastercard.com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Transactions to Transformation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194560"/>
            <a:ext cx="2743200" cy="457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4" name="Text 2"/>
          <p:cNvSpPr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GreenTrail has the foundation. Now let's build promotions that create lasting customer relationships aligned with your sustainability mission.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Ready to proceed with testing?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discuss implementation details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5696</Words>
  <Application>WPS Presentation</Application>
  <PresentationFormat>On-screen Show (16:9)</PresentationFormat>
  <Paragraphs>376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GreenTrail Outdoors - Promotional Strategy Analysis</dc:title>
  <dc:creator>Mastercard Data &amp; Services</dc:creator>
  <dc:subject>PptxGenJS Presentation</dc:subject>
  <cp:lastModifiedBy>GOPU</cp:lastModifiedBy>
  <cp:revision>2</cp:revision>
  <dcterms:created xsi:type="dcterms:W3CDTF">2026-02-09T10:33:00Z</dcterms:created>
  <dcterms:modified xsi:type="dcterms:W3CDTF">2026-02-09T14:47:50Z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96C355C799124ADD82F5271D52E16EC8_12</vt:lpwstr>
  </property>
  <property fmtid="{D5CDD505-2E9C-101B-9397-08002B2CF9AE}" pid="3" name="KSOProductBuildVer">
    <vt:lpwstr>1033-12.2.0.23196</vt:lpwstr>
  </property>
</Properties>
</file>